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4"/>
  </p:notesMasterIdLst>
  <p:handoutMasterIdLst>
    <p:handoutMasterId r:id="rId15"/>
  </p:handoutMasterIdLst>
  <p:sldIdLst>
    <p:sldId id="278" r:id="rId5"/>
    <p:sldId id="282" r:id="rId6"/>
    <p:sldId id="293" r:id="rId7"/>
    <p:sldId id="284" r:id="rId8"/>
    <p:sldId id="286" r:id="rId9"/>
    <p:sldId id="287" r:id="rId10"/>
    <p:sldId id="288" r:id="rId11"/>
    <p:sldId id="289" r:id="rId12"/>
    <p:sldId id="29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78" d="100"/>
          <a:sy n="78" d="100"/>
        </p:scale>
        <p:origin x="878" y="72"/>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6/25/2026</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6/25/2026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307048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28766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1929982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600974" y="196900"/>
            <a:ext cx="4899628" cy="2331490"/>
          </a:xfrm>
        </p:spPr>
        <p:txBody>
          <a:bodyPr anchor="b" anchorCtr="0">
            <a:noAutofit/>
          </a:bodyPr>
          <a:lstStyle>
            <a:lvl1pPr algn="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83162" y="2827209"/>
            <a:ext cx="4917440" cy="3442144"/>
          </a:xfrm>
        </p:spPr>
        <p:txBody>
          <a:bodyPr>
            <a:normAutofit/>
          </a:bodyPr>
          <a:lstStyle>
            <a:lvl1pPr marL="0" indent="0" algn="r">
              <a:buNone/>
              <a:defRPr sz="1800">
                <a:solidFill>
                  <a:schemeClr val="tx1"/>
                </a:solidFill>
              </a:defRPr>
            </a:lvl1pPr>
            <a:lvl2pPr algn="r">
              <a:defRPr sz="1200">
                <a:solidFill>
                  <a:schemeClr val="tx1"/>
                </a:solidFill>
              </a:defRPr>
            </a:lvl2pPr>
            <a:lvl3pPr algn="r">
              <a:defRPr sz="1200">
                <a:solidFill>
                  <a:schemeClr val="tx1"/>
                </a:solidFill>
              </a:defRPr>
            </a:lvl3pPr>
            <a:lvl4pPr algn="r">
              <a:defRPr sz="1200">
                <a:solidFill>
                  <a:schemeClr val="tx1"/>
                </a:solidFill>
              </a:defRPr>
            </a:lvl4pPr>
            <a:lvl5pPr algn="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095588" y="0"/>
            <a:ext cx="6095998" cy="6858000"/>
          </a:xfrm>
        </p:spPr>
        <p:txBody>
          <a:bodyPr>
            <a:normAutofit/>
          </a:bodyPr>
          <a:lstStyle>
            <a:lvl1pPr marL="0" indent="0" algn="ctr">
              <a:buNone/>
              <a:defRPr sz="2000">
                <a:solidFill>
                  <a:schemeClr val="tx1"/>
                </a:solidFill>
              </a:defRPr>
            </a:lvl1pPr>
          </a:lstStyle>
          <a:p>
            <a:r>
              <a:rPr lang="en-US"/>
              <a:t>Click icon to add picture</a:t>
            </a:r>
            <a:endParaRPr lang="en-US" dirty="0"/>
          </a:p>
        </p:txBody>
      </p:sp>
      <p:grpSp>
        <p:nvGrpSpPr>
          <p:cNvPr id="4" name="Group 3">
            <a:extLst>
              <a:ext uri="{FF2B5EF4-FFF2-40B4-BE49-F238E27FC236}">
                <a16:creationId xmlns:a16="http://schemas.microsoft.com/office/drawing/2014/main" id="{A904CD02-7C7D-28DD-85A8-2FD92C29D32A}"/>
              </a:ext>
              <a:ext uri="{C183D7F6-B498-43B3-948B-1728B52AA6E4}">
                <adec:decorative xmlns:adec="http://schemas.microsoft.com/office/drawing/2017/decorative" val="1"/>
              </a:ext>
            </a:extLst>
          </p:cNvPr>
          <p:cNvGrpSpPr/>
          <p:nvPr userDrawn="1"/>
        </p:nvGrpSpPr>
        <p:grpSpPr>
          <a:xfrm>
            <a:off x="4803321" y="682622"/>
            <a:ext cx="734257" cy="760506"/>
            <a:chOff x="5243759" y="1363788"/>
            <a:chExt cx="734257" cy="760506"/>
          </a:xfrm>
        </p:grpSpPr>
        <p:sp>
          <p:nvSpPr>
            <p:cNvPr id="9" name="Freeform 5">
              <a:extLst>
                <a:ext uri="{FF2B5EF4-FFF2-40B4-BE49-F238E27FC236}">
                  <a16:creationId xmlns:a16="http://schemas.microsoft.com/office/drawing/2014/main" id="{FB7341D0-DC30-9661-B3E0-91DE7C37946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a16="http://schemas.microsoft.com/office/drawing/2014/main" id="{92A118B5-9F91-EA1B-3F95-6BFA5095544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a16="http://schemas.microsoft.com/office/drawing/2014/main" id="{208891A5-91FA-D924-CB46-E74B50635001}"/>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BE5F7483-2261-D4C4-30E3-2D379D8CA06D}"/>
              </a:ext>
              <a:ext uri="{C183D7F6-B498-43B3-948B-1728B52AA6E4}">
                <adec:decorative xmlns:adec="http://schemas.microsoft.com/office/drawing/2017/decorative" val="1"/>
              </a:ext>
            </a:extLst>
          </p:cNvPr>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46747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550863" y="550801"/>
            <a:ext cx="11090275" cy="1237360"/>
          </a:xfrm>
        </p:spPr>
        <p:txBody>
          <a:bodyPr anchor="t" anchorCtr="0">
            <a:noAutofit/>
          </a:bodyPr>
          <a:lstStyle>
            <a:lvl1pP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53720" y="1917065"/>
            <a:ext cx="2921000" cy="4297680"/>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hasCustomPrompt="1"/>
          </p:nvPr>
        </p:nvSpPr>
        <p:spPr>
          <a:xfrm>
            <a:off x="4048759" y="1917065"/>
            <a:ext cx="7591799" cy="4297680"/>
          </a:xfrm>
        </p:spPr>
        <p:txBody>
          <a:bodyPr>
            <a:normAutofit/>
          </a:bodyPr>
          <a:lstStyle>
            <a:lvl1pPr>
              <a:defRPr sz="2000">
                <a:solidFill>
                  <a:schemeClr val="tx1"/>
                </a:solidFill>
              </a:defRPr>
            </a:lvl1pPr>
          </a:lstStyle>
          <a:p>
            <a:r>
              <a:rPr lang="en-US" dirty="0"/>
              <a:t>Click icon to insert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523815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4073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1" r:id="rId14"/>
    <p:sldLayoutId id="2147483723" r:id="rId15"/>
    <p:sldLayoutId id="2147483724" r:id="rId16"/>
    <p:sldLayoutId id="2147483725" r:id="rId17"/>
    <p:sldLayoutId id="2147483728" r:id="rId18"/>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harya-wolf/Capstone_3.git" TargetMode="External"/><Relationship Id="rId2" Type="http://schemas.openxmlformats.org/officeDocument/2006/relationships/image" Target="../media/image8.png"/><Relationship Id="rId1" Type="http://schemas.openxmlformats.org/officeDocument/2006/relationships/slideLayout" Target="../slideLayouts/slideLayout17.xml"/><Relationship Id="rId4" Type="http://schemas.openxmlformats.org/officeDocument/2006/relationships/hyperlink" Target="https://app.powerbi.com/links/km86xMKi9a?ctid=bbce5c37-f181-4d0c-9310-7f877336e1cf&amp;pbi_source=linkShare"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noFill/>
        </p:spPr>
        <p:txBody>
          <a:bodyPr anchor="ctr">
            <a:noAutofit/>
          </a:bodyPr>
          <a:lstStyle/>
          <a:p>
            <a:pPr algn="ctr"/>
            <a:r>
              <a:rPr lang="en-US" dirty="0"/>
              <a:t>West Region Next Steps</a:t>
            </a:r>
          </a:p>
        </p:txBody>
      </p:sp>
      <p:pic>
        <p:nvPicPr>
          <p:cNvPr id="8" name="Picture Placeholder 13" descr="Data points digital background">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7936" r="7936"/>
          <a:stretch/>
        </p:blipFill>
        <p:spPr/>
      </p:pic>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11" name="Freeform: Shape 10">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Oval 11">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Freeform: Shape 13">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6" name="Rectangle 15">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550864" y="549275"/>
            <a:ext cx="3565524" cy="1997855"/>
          </a:xfrm>
        </p:spPr>
        <p:txBody>
          <a:bodyPr vert="horz" wrap="square" lIns="0" tIns="0" rIns="0" bIns="0" rtlCol="0" anchor="b" anchorCtr="0">
            <a:normAutofit/>
          </a:bodyPr>
          <a:lstStyle/>
          <a:p>
            <a:pPr>
              <a:lnSpc>
                <a:spcPct val="100000"/>
              </a:lnSpc>
            </a:pPr>
            <a:r>
              <a:rPr lang="en-US" sz="4800"/>
              <a:t>Planning</a:t>
            </a:r>
          </a:p>
        </p:txBody>
      </p:sp>
      <p:grpSp>
        <p:nvGrpSpPr>
          <p:cNvPr id="18" name="Group 17">
            <a:extLst>
              <a:ext uri="{FF2B5EF4-FFF2-40B4-BE49-F238E27FC236}">
                <a16:creationId xmlns:a16="http://schemas.microsoft.com/office/drawing/2014/main" id="{9F2D4ED5-DC78-4C88-97AA-483206C53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70793" y="0"/>
            <a:ext cx="1468514" cy="1521012"/>
            <a:chOff x="5236793" y="2432482"/>
            <a:chExt cx="1468514" cy="1521012"/>
          </a:xfrm>
        </p:grpSpPr>
        <p:sp>
          <p:nvSpPr>
            <p:cNvPr id="19" name="Freeform 5">
              <a:extLst>
                <a:ext uri="{FF2B5EF4-FFF2-40B4-BE49-F238E27FC236}">
                  <a16:creationId xmlns:a16="http://schemas.microsoft.com/office/drawing/2014/main" id="{0DE0B65A-4839-40B2-BA92-1464FEADBA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463135" y="2432482"/>
              <a:ext cx="1242172" cy="729202"/>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6">
              <a:extLst>
                <a:ext uri="{FF2B5EF4-FFF2-40B4-BE49-F238E27FC236}">
                  <a16:creationId xmlns:a16="http://schemas.microsoft.com/office/drawing/2014/main" id="{842A0A68-39DD-4DA7-BAD5-63B9C1398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36793" y="2566400"/>
              <a:ext cx="611884" cy="1076550"/>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Freeform 8">
              <a:extLst>
                <a:ext uri="{FF2B5EF4-FFF2-40B4-BE49-F238E27FC236}">
                  <a16:creationId xmlns:a16="http://schemas.microsoft.com/office/drawing/2014/main" id="{21A69E50-7E10-45C3-B4F2-19DBA774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765469" y="2876944"/>
              <a:ext cx="630288" cy="1076550"/>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40000"/>
                    <a:lumOff val="60000"/>
                    <a:alpha val="60000"/>
                  </a:schemeClr>
                </a:gs>
              </a:gsLst>
              <a:lin ang="18000000" scaled="0"/>
              <a:tileRect/>
            </a:gradFill>
            <a:ln>
              <a:noFill/>
            </a:ln>
            <a:effectLst>
              <a:innerShdw blurRad="508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3" name="Oval 22">
            <a:extLst>
              <a:ext uri="{FF2B5EF4-FFF2-40B4-BE49-F238E27FC236}">
                <a16:creationId xmlns:a16="http://schemas.microsoft.com/office/drawing/2014/main" id="{D166A8AB-8924-421C-BCED-B54DBC405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7897" y="5497189"/>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3" y="2677306"/>
            <a:ext cx="3565525" cy="3415519"/>
          </a:xfrm>
        </p:spPr>
        <p:txBody>
          <a:bodyPr vert="horz" wrap="square" lIns="0" tIns="0" rIns="0" bIns="0" rtlCol="0" anchor="t">
            <a:normAutofit/>
          </a:bodyPr>
          <a:lstStyle/>
          <a:p>
            <a:pPr indent="-228600">
              <a:buFont typeface="Arial" panose="020B0604020202020204" pitchFamily="34" charset="0"/>
              <a:buChar char="•"/>
            </a:pPr>
            <a:r>
              <a:rPr lang="en-US" sz="1600">
                <a:solidFill>
                  <a:schemeClr val="tx1">
                    <a:alpha val="60000"/>
                  </a:schemeClr>
                </a:solidFill>
              </a:rPr>
              <a:t>Introduction</a:t>
            </a:r>
          </a:p>
          <a:p>
            <a:pPr indent="-228600">
              <a:buFont typeface="Arial" panose="020B0604020202020204" pitchFamily="34" charset="0"/>
              <a:buChar char="•"/>
            </a:pPr>
            <a:r>
              <a:rPr lang="en-US" sz="1600">
                <a:solidFill>
                  <a:schemeClr val="tx1">
                    <a:alpha val="60000"/>
                  </a:schemeClr>
                </a:solidFill>
              </a:rPr>
              <a:t>Growth</a:t>
            </a:r>
          </a:p>
          <a:p>
            <a:pPr indent="-228600">
              <a:buFont typeface="Arial" panose="020B0604020202020204" pitchFamily="34" charset="0"/>
              <a:buChar char="•"/>
            </a:pPr>
            <a:r>
              <a:rPr lang="en-US" sz="1600">
                <a:solidFill>
                  <a:schemeClr val="tx1">
                    <a:alpha val="60000"/>
                  </a:schemeClr>
                </a:solidFill>
              </a:rPr>
              <a:t>Sales &amp; Trends</a:t>
            </a:r>
          </a:p>
          <a:p>
            <a:pPr indent="-228600">
              <a:buFont typeface="Arial" panose="020B0604020202020204" pitchFamily="34" charset="0"/>
              <a:buChar char="•"/>
            </a:pPr>
            <a:r>
              <a:rPr lang="en-US" sz="1600">
                <a:solidFill>
                  <a:schemeClr val="tx1">
                    <a:alpha val="60000"/>
                  </a:schemeClr>
                </a:solidFill>
              </a:rPr>
              <a:t>Performance</a:t>
            </a:r>
          </a:p>
          <a:p>
            <a:pPr indent="-228600">
              <a:buFont typeface="Arial" panose="020B0604020202020204" pitchFamily="34" charset="0"/>
              <a:buChar char="•"/>
            </a:pPr>
            <a:r>
              <a:rPr lang="en-US" sz="1600">
                <a:solidFill>
                  <a:schemeClr val="tx1">
                    <a:alpha val="60000"/>
                  </a:schemeClr>
                </a:solidFill>
              </a:rPr>
              <a:t>Final tips &amp; takeaways</a:t>
            </a:r>
          </a:p>
        </p:txBody>
      </p:sp>
      <p:pic>
        <p:nvPicPr>
          <p:cNvPr id="5" name="Picture 4">
            <a:extLst>
              <a:ext uri="{FF2B5EF4-FFF2-40B4-BE49-F238E27FC236}">
                <a16:creationId xmlns:a16="http://schemas.microsoft.com/office/drawing/2014/main" id="{B0220446-5504-4A10-2A50-9F2E97DC0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5309" y="1912131"/>
            <a:ext cx="7855827" cy="3258962"/>
          </a:xfrm>
          <a:custGeom>
            <a:avLst/>
            <a:gdLst/>
            <a:ahLst/>
            <a:cxnLst/>
            <a:rect l="l" t="t" r="r" b="b"/>
            <a:pathLst>
              <a:path w="7090237" h="5759451">
                <a:moveTo>
                  <a:pt x="0" y="0"/>
                </a:moveTo>
                <a:lnTo>
                  <a:pt x="7090237" y="0"/>
                </a:lnTo>
                <a:lnTo>
                  <a:pt x="7090237" y="5759451"/>
                </a:lnTo>
                <a:lnTo>
                  <a:pt x="0" y="5759451"/>
                </a:lnTo>
                <a:close/>
              </a:path>
            </a:pathLst>
          </a:custGeom>
        </p:spPr>
      </p:pic>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61D2-D88C-403C-01B0-2CADCF9C734C}"/>
              </a:ext>
            </a:extLst>
          </p:cNvPr>
          <p:cNvSpPr>
            <a:spLocks noGrp="1"/>
          </p:cNvSpPr>
          <p:nvPr>
            <p:ph type="title"/>
          </p:nvPr>
        </p:nvSpPr>
        <p:spPr>
          <a:xfrm>
            <a:off x="221064" y="329033"/>
            <a:ext cx="11090275" cy="992326"/>
          </a:xfrm>
        </p:spPr>
        <p:txBody>
          <a:bodyPr/>
          <a:lstStyle/>
          <a:p>
            <a:r>
              <a:rPr lang="en-US" dirty="0"/>
              <a:t>Total West Region Sales</a:t>
            </a:r>
          </a:p>
        </p:txBody>
      </p:sp>
      <p:pic>
        <p:nvPicPr>
          <p:cNvPr id="5" name="Content Placeholder 4">
            <a:extLst>
              <a:ext uri="{FF2B5EF4-FFF2-40B4-BE49-F238E27FC236}">
                <a16:creationId xmlns:a16="http://schemas.microsoft.com/office/drawing/2014/main" id="{D9122433-5FE5-F772-D8C1-7D05464C8F0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l="33813" t="26639" r="17079" b="27785"/>
          <a:stretch>
            <a:fillRect/>
          </a:stretch>
        </p:blipFill>
        <p:spPr>
          <a:xfrm>
            <a:off x="0" y="1627832"/>
            <a:ext cx="6664431" cy="3285811"/>
          </a:xfrm>
          <a:prstGeom prst="rect">
            <a:avLst/>
          </a:prstGeom>
        </p:spPr>
      </p:pic>
      <p:sp>
        <p:nvSpPr>
          <p:cNvPr id="6" name="TextBox 5">
            <a:extLst>
              <a:ext uri="{FF2B5EF4-FFF2-40B4-BE49-F238E27FC236}">
                <a16:creationId xmlns:a16="http://schemas.microsoft.com/office/drawing/2014/main" id="{CFC8F17E-37CD-90AF-63B2-0D49A6EE89F8}"/>
              </a:ext>
            </a:extLst>
          </p:cNvPr>
          <p:cNvSpPr txBox="1"/>
          <p:nvPr/>
        </p:nvSpPr>
        <p:spPr>
          <a:xfrm>
            <a:off x="6845628" y="1767006"/>
            <a:ext cx="5061236" cy="3323987"/>
          </a:xfrm>
          <a:prstGeom prst="rect">
            <a:avLst/>
          </a:prstGeom>
          <a:noFill/>
        </p:spPr>
        <p:txBody>
          <a:bodyPr wrap="square" rtlCol="0">
            <a:spAutoFit/>
          </a:bodyPr>
          <a:lstStyle/>
          <a:p>
            <a:pPr>
              <a:lnSpc>
                <a:spcPct val="200000"/>
              </a:lnSpc>
            </a:pPr>
            <a:r>
              <a:rPr lang="en-US" sz="2400" b="1" dirty="0"/>
              <a:t>Region:  West</a:t>
            </a:r>
          </a:p>
          <a:p>
            <a:pPr>
              <a:lnSpc>
                <a:spcPct val="200000"/>
              </a:lnSpc>
            </a:pPr>
            <a:r>
              <a:rPr lang="en-US" sz="2400" b="1" dirty="0"/>
              <a:t>State: Colorado &amp; Online Sales</a:t>
            </a:r>
          </a:p>
          <a:p>
            <a:pPr>
              <a:lnSpc>
                <a:spcPct val="200000"/>
              </a:lnSpc>
            </a:pPr>
            <a:r>
              <a:rPr lang="en-US" sz="2400" b="1" dirty="0"/>
              <a:t>In-Store Sales: $6.41M</a:t>
            </a:r>
          </a:p>
          <a:p>
            <a:pPr>
              <a:lnSpc>
                <a:spcPct val="200000"/>
              </a:lnSpc>
            </a:pPr>
            <a:r>
              <a:rPr lang="en-US" sz="2400" b="1" dirty="0"/>
              <a:t>Online Sales: $2.6M</a:t>
            </a:r>
          </a:p>
          <a:p>
            <a:endParaRPr lang="en-US" dirty="0"/>
          </a:p>
        </p:txBody>
      </p:sp>
    </p:spTree>
    <p:extLst>
      <p:ext uri="{BB962C8B-B14F-4D97-AF65-F5344CB8AC3E}">
        <p14:creationId xmlns:p14="http://schemas.microsoft.com/office/powerpoint/2010/main" val="360672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a:xfrm>
            <a:off x="580359" y="488642"/>
            <a:ext cx="7960421" cy="1450217"/>
          </a:xfrm>
        </p:spPr>
        <p:txBody>
          <a:bodyPr/>
          <a:lstStyle/>
          <a:p>
            <a:r>
              <a:rPr lang="en-US" dirty="0"/>
              <a:t>Growth</a:t>
            </a:r>
          </a:p>
        </p:txBody>
      </p:sp>
      <p:pic>
        <p:nvPicPr>
          <p:cNvPr id="5" name="Content Placeholder 4">
            <a:extLst>
              <a:ext uri="{FF2B5EF4-FFF2-40B4-BE49-F238E27FC236}">
                <a16:creationId xmlns:a16="http://schemas.microsoft.com/office/drawing/2014/main" id="{D4C16CE5-B2CD-4CB8-1F3C-CD9E1F48D49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4366" t="46879" r="16946" b="11463"/>
          <a:stretch>
            <a:fillRect/>
          </a:stretch>
        </p:blipFill>
        <p:spPr>
          <a:xfrm>
            <a:off x="162925" y="1423956"/>
            <a:ext cx="5805197" cy="3267356"/>
          </a:xfrm>
          <a:prstGeom prst="rect">
            <a:avLst/>
          </a:prstGeom>
        </p:spPr>
      </p:pic>
      <p:pic>
        <p:nvPicPr>
          <p:cNvPr id="7" name="Picture 6">
            <a:extLst>
              <a:ext uri="{FF2B5EF4-FFF2-40B4-BE49-F238E27FC236}">
                <a16:creationId xmlns:a16="http://schemas.microsoft.com/office/drawing/2014/main" id="{76F440CB-9C7F-C08E-019E-4249293A69E3}"/>
              </a:ext>
            </a:extLst>
          </p:cNvPr>
          <p:cNvPicPr>
            <a:picLocks noChangeAspect="1"/>
          </p:cNvPicPr>
          <p:nvPr/>
        </p:nvPicPr>
        <p:blipFill>
          <a:blip r:embed="rId3">
            <a:extLst>
              <a:ext uri="{28A0092B-C50C-407E-A947-70E740481C1C}">
                <a14:useLocalDpi xmlns:a14="http://schemas.microsoft.com/office/drawing/2010/main" val="0"/>
              </a:ext>
            </a:extLst>
          </a:blip>
          <a:srcRect l="2719" t="47635" r="56320" b="12185"/>
          <a:stretch>
            <a:fillRect/>
          </a:stretch>
        </p:blipFill>
        <p:spPr>
          <a:xfrm>
            <a:off x="6096000" y="3057634"/>
            <a:ext cx="5805197" cy="3025245"/>
          </a:xfrm>
          <a:prstGeom prst="rect">
            <a:avLst/>
          </a:prstGeom>
        </p:spPr>
      </p:pic>
      <p:sp>
        <p:nvSpPr>
          <p:cNvPr id="9" name="TextBox 8">
            <a:extLst>
              <a:ext uri="{FF2B5EF4-FFF2-40B4-BE49-F238E27FC236}">
                <a16:creationId xmlns:a16="http://schemas.microsoft.com/office/drawing/2014/main" id="{2982DD72-C254-304D-5051-7CE557D0BE2D}"/>
              </a:ext>
            </a:extLst>
          </p:cNvPr>
          <p:cNvSpPr txBox="1"/>
          <p:nvPr/>
        </p:nvSpPr>
        <p:spPr>
          <a:xfrm>
            <a:off x="6096000" y="1514592"/>
            <a:ext cx="4768645" cy="1200329"/>
          </a:xfrm>
          <a:prstGeom prst="rect">
            <a:avLst/>
          </a:prstGeom>
          <a:noFill/>
        </p:spPr>
        <p:txBody>
          <a:bodyPr wrap="square" rtlCol="0">
            <a:spAutoFit/>
          </a:bodyPr>
          <a:lstStyle/>
          <a:p>
            <a:r>
              <a:rPr lang="en-US" dirty="0"/>
              <a:t>For the past few years, the categories that have been dominating the west region are technologies &amp; accessories, with textbooks coming in second by a huge gap. </a:t>
            </a:r>
          </a:p>
        </p:txBody>
      </p:sp>
    </p:spTree>
    <p:extLst>
      <p:ext uri="{BB962C8B-B14F-4D97-AF65-F5344CB8AC3E}">
        <p14:creationId xmlns:p14="http://schemas.microsoft.com/office/powerpoint/2010/main" val="652841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a:xfrm>
            <a:off x="440332" y="187088"/>
            <a:ext cx="11090274" cy="1332000"/>
          </a:xfrm>
        </p:spPr>
        <p:txBody>
          <a:bodyPr/>
          <a:lstStyle/>
          <a:p>
            <a:pPr algn="ctr"/>
            <a:r>
              <a:rPr lang="en-US" dirty="0"/>
              <a:t>Sales &amp; Trends</a:t>
            </a:r>
          </a:p>
        </p:txBody>
      </p:sp>
      <p:pic>
        <p:nvPicPr>
          <p:cNvPr id="10" name="Content Placeholder 9">
            <a:extLst>
              <a:ext uri="{FF2B5EF4-FFF2-40B4-BE49-F238E27FC236}">
                <a16:creationId xmlns:a16="http://schemas.microsoft.com/office/drawing/2014/main" id="{87DB1954-AFA3-D196-2F99-76DC0EB77FE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3360" t="26938" r="42106" b="26935"/>
          <a:stretch>
            <a:fillRect/>
          </a:stretch>
        </p:blipFill>
        <p:spPr>
          <a:xfrm>
            <a:off x="161954" y="1332683"/>
            <a:ext cx="5823515" cy="3449515"/>
          </a:xfrm>
          <a:prstGeom prst="rect">
            <a:avLst/>
          </a:prstGeom>
        </p:spPr>
      </p:pic>
      <p:pic>
        <p:nvPicPr>
          <p:cNvPr id="12" name="Content Placeholder 11">
            <a:extLst>
              <a:ext uri="{FF2B5EF4-FFF2-40B4-BE49-F238E27FC236}">
                <a16:creationId xmlns:a16="http://schemas.microsoft.com/office/drawing/2014/main" id="{BCD2E638-D840-5CF4-B16A-2B8F41A8215E}"/>
              </a:ext>
            </a:extLst>
          </p:cNvPr>
          <p:cNvPicPr>
            <a:picLocks noGrp="1" noChangeAspect="1"/>
          </p:cNvPicPr>
          <p:nvPr>
            <p:ph sz="half" idx="13"/>
          </p:nvPr>
        </p:nvPicPr>
        <p:blipFill>
          <a:blip r:embed="rId4">
            <a:extLst>
              <a:ext uri="{28A0092B-C50C-407E-A947-70E740481C1C}">
                <a14:useLocalDpi xmlns:a14="http://schemas.microsoft.com/office/drawing/2010/main" val="0"/>
              </a:ext>
            </a:extLst>
          </a:blip>
          <a:srcRect l="3289" t="26938" r="41622" b="24432"/>
          <a:stretch>
            <a:fillRect/>
          </a:stretch>
        </p:blipFill>
        <p:spPr>
          <a:xfrm>
            <a:off x="6096000" y="2982078"/>
            <a:ext cx="6095999" cy="3600240"/>
          </a:xfrm>
          <a:prstGeom prst="rect">
            <a:avLst/>
          </a:prstGeom>
        </p:spPr>
      </p:pic>
      <p:sp>
        <p:nvSpPr>
          <p:cNvPr id="13" name="TextBox 12">
            <a:extLst>
              <a:ext uri="{FF2B5EF4-FFF2-40B4-BE49-F238E27FC236}">
                <a16:creationId xmlns:a16="http://schemas.microsoft.com/office/drawing/2014/main" id="{BD4131B9-4435-7FB6-513D-18B131DFA578}"/>
              </a:ext>
            </a:extLst>
          </p:cNvPr>
          <p:cNvSpPr txBox="1"/>
          <p:nvPr/>
        </p:nvSpPr>
        <p:spPr>
          <a:xfrm>
            <a:off x="5909186" y="1332683"/>
            <a:ext cx="5142271" cy="923330"/>
          </a:xfrm>
          <a:prstGeom prst="rect">
            <a:avLst/>
          </a:prstGeom>
          <a:noFill/>
        </p:spPr>
        <p:txBody>
          <a:bodyPr wrap="square" rtlCol="0">
            <a:spAutoFit/>
          </a:bodyPr>
          <a:lstStyle/>
          <a:p>
            <a:r>
              <a:rPr lang="en-US" dirty="0"/>
              <a:t>Steadily moving ascending through the years. Our highest point was in October with 330k for in-store sales.</a:t>
            </a:r>
          </a:p>
        </p:txBody>
      </p:sp>
      <p:sp>
        <p:nvSpPr>
          <p:cNvPr id="14" name="TextBox 13">
            <a:extLst>
              <a:ext uri="{FF2B5EF4-FFF2-40B4-BE49-F238E27FC236}">
                <a16:creationId xmlns:a16="http://schemas.microsoft.com/office/drawing/2014/main" id="{AD809FDC-E3B8-8E49-968A-ADECE440776F}"/>
              </a:ext>
            </a:extLst>
          </p:cNvPr>
          <p:cNvSpPr txBox="1"/>
          <p:nvPr/>
        </p:nvSpPr>
        <p:spPr>
          <a:xfrm>
            <a:off x="1179872" y="5466128"/>
            <a:ext cx="4916128" cy="923330"/>
          </a:xfrm>
          <a:prstGeom prst="rect">
            <a:avLst/>
          </a:prstGeom>
          <a:noFill/>
        </p:spPr>
        <p:txBody>
          <a:bodyPr wrap="square" rtlCol="0">
            <a:spAutoFit/>
          </a:bodyPr>
          <a:lstStyle/>
          <a:p>
            <a:pPr algn="r"/>
            <a:r>
              <a:rPr lang="en-US" dirty="0"/>
              <a:t>As of December, sales seem to have dropped to 208k. We can make a few assumptions based on the weather and the seasonal time.</a:t>
            </a:r>
          </a:p>
        </p:txBody>
      </p:sp>
    </p:spTree>
    <p:extLst>
      <p:ext uri="{BB962C8B-B14F-4D97-AF65-F5344CB8AC3E}">
        <p14:creationId xmlns:p14="http://schemas.microsoft.com/office/powerpoint/2010/main" val="233018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dirty="0"/>
              <a:t>Books Performance</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3" y="2254491"/>
            <a:ext cx="5435600" cy="2986103"/>
          </a:xfrm>
        </p:spPr>
        <p:txBody>
          <a:bodyPr/>
          <a:lstStyle/>
          <a:p>
            <a:pPr lvl="1"/>
            <a:r>
              <a:rPr lang="en-US" dirty="0"/>
              <a:t> </a:t>
            </a:r>
            <a:r>
              <a:rPr lang="en-US" sz="2400" dirty="0"/>
              <a:t>Top-selling authors are:</a:t>
            </a:r>
          </a:p>
          <a:p>
            <a:pPr lvl="1"/>
            <a:r>
              <a:rPr lang="en-US" sz="2400" dirty="0"/>
              <a:t>Suzanne Collins - $ 38,652.65</a:t>
            </a:r>
          </a:p>
          <a:p>
            <a:pPr lvl="1"/>
            <a:r>
              <a:rPr lang="en-US" sz="2400" dirty="0"/>
              <a:t>Stephen Hawkings - $37,844.04</a:t>
            </a:r>
          </a:p>
          <a:p>
            <a:pPr lvl="1"/>
            <a:r>
              <a:rPr lang="en-US" sz="2400" dirty="0"/>
              <a:t>J.K. Rowling - $31, 961.04</a:t>
            </a:r>
          </a:p>
        </p:txBody>
      </p:sp>
      <p:sp>
        <p:nvSpPr>
          <p:cNvPr id="2" name="TextBox 1">
            <a:extLst>
              <a:ext uri="{FF2B5EF4-FFF2-40B4-BE49-F238E27FC236}">
                <a16:creationId xmlns:a16="http://schemas.microsoft.com/office/drawing/2014/main" id="{E272CB83-809D-8681-D75B-3BCE20233C46}"/>
              </a:ext>
            </a:extLst>
          </p:cNvPr>
          <p:cNvSpPr txBox="1"/>
          <p:nvPr/>
        </p:nvSpPr>
        <p:spPr>
          <a:xfrm>
            <a:off x="6096000" y="2254491"/>
            <a:ext cx="4591665"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t>We should focus our inventory mostly on books from these authors since they are producing the most sales within our stores.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With that, our sales won’t rely mainly on the technology &amp; accessories, which is rather dangerous. </a:t>
            </a:r>
          </a:p>
        </p:txBody>
      </p:sp>
    </p:spTree>
    <p:extLst>
      <p:ext uri="{BB962C8B-B14F-4D97-AF65-F5344CB8AC3E}">
        <p14:creationId xmlns:p14="http://schemas.microsoft.com/office/powerpoint/2010/main" val="3353460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06B59-80B8-CEED-0BCA-BC3F80A85FEA}"/>
              </a:ext>
              <a:ext uri="{C183D7F6-B498-43B3-948B-1728B52AA6E4}">
                <adec:decorative xmlns:adec="http://schemas.microsoft.com/office/drawing/2017/decorative" val="1"/>
              </a:ext>
            </a:extLst>
          </p:cNvPr>
          <p:cNvGrpSpPr/>
          <p:nvPr/>
        </p:nvGrpSpPr>
        <p:grpSpPr>
          <a:xfrm>
            <a:off x="4803321" y="682622"/>
            <a:ext cx="734257" cy="760506"/>
            <a:chOff x="5243759" y="1363788"/>
            <a:chExt cx="734257" cy="760506"/>
          </a:xfrm>
        </p:grpSpPr>
        <p:sp>
          <p:nvSpPr>
            <p:cNvPr id="6" name="Freeform 5">
              <a:extLst>
                <a:ext uri="{FF2B5EF4-FFF2-40B4-BE49-F238E27FC236}">
                  <a16:creationId xmlns:a16="http://schemas.microsoft.com/office/drawing/2014/main" id="{73C2F317-81E4-3678-2FF2-495B3A95470A}"/>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A7C6D33A-37B7-D2C4-2C1C-6D5253D0D480}"/>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18145A95-72C3-9BFC-32D2-908F235E389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596634" y="0"/>
            <a:ext cx="4899628" cy="2331490"/>
          </a:xfrm>
          <a:noFill/>
        </p:spPr>
        <p:txBody>
          <a:bodyPr anchor="b"/>
          <a:lstStyle/>
          <a:p>
            <a:r>
              <a:rPr lang="en-US" dirty="0"/>
              <a:t>Final Tips &amp; Takeaways</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578822" y="2331490"/>
            <a:ext cx="4917440" cy="3442144"/>
          </a:xfrm>
          <a:noFill/>
        </p:spPr>
        <p:txBody>
          <a:bodyPr vert="horz" lIns="91440" tIns="45720" rIns="91440" bIns="45720" rtlCol="0" anchor="t">
            <a:normAutofit lnSpcReduction="10000"/>
          </a:bodyPr>
          <a:lstStyle/>
          <a:p>
            <a:pPr marL="285750" indent="-285750" algn="l">
              <a:buFont typeface="Wingdings" panose="05000000000000000000" pitchFamily="2" charset="2"/>
              <a:buChar char="v"/>
            </a:pPr>
            <a:r>
              <a:rPr lang="en-US" dirty="0"/>
              <a:t>We can at most predict when certain sales may drop from certain products based on the time and season.  We should base our marketing on that. </a:t>
            </a:r>
          </a:p>
          <a:p>
            <a:pPr marL="285750" indent="-285750" algn="l">
              <a:buFont typeface="Wingdings" panose="05000000000000000000" pitchFamily="2" charset="2"/>
              <a:buChar char="v"/>
            </a:pPr>
            <a:r>
              <a:rPr lang="en-US" dirty="0"/>
              <a:t>Colorado stores experienced a 12% decline in Category textbook and books sales during the last year, while online sales for the same category remained stable. Management should consider targeted online promotions to help increase demand and offset declining in-store performance.</a:t>
            </a:r>
          </a:p>
        </p:txBody>
      </p:sp>
      <p:pic>
        <p:nvPicPr>
          <p:cNvPr id="20" name="Picture Placeholder 19" descr="A close-up of a graph">
            <a:extLst>
              <a:ext uri="{FF2B5EF4-FFF2-40B4-BE49-F238E27FC236}">
                <a16:creationId xmlns:a16="http://schemas.microsoft.com/office/drawing/2014/main" id="{A7019768-5E2A-F9D1-62D6-EC7C5F0BBEC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 r="9"/>
          <a:stretch/>
        </p:blipFill>
        <p:spPr/>
      </p:pic>
      <p:sp>
        <p:nvSpPr>
          <p:cNvPr id="9" name="Oval 8">
            <a:extLst>
              <a:ext uri="{FF2B5EF4-FFF2-40B4-BE49-F238E27FC236}">
                <a16:creationId xmlns:a16="http://schemas.microsoft.com/office/drawing/2014/main" id="{5C4A7DC2-42C3-FDDF-02BF-9598D75A6A83}"/>
              </a:ext>
              <a:ext uri="{C183D7F6-B498-43B3-948B-1728B52AA6E4}">
                <adec:decorative xmlns:adec="http://schemas.microsoft.com/office/drawing/2017/decorative" val="1"/>
              </a:ext>
            </a:extLst>
          </p:cNvPr>
          <p:cNvSpPr>
            <a:spLocks noChangeAspect="1"/>
          </p:cNvSpPr>
          <p:nvPr/>
        </p:nvSpPr>
        <p:spPr>
          <a:xfrm>
            <a:off x="52068" y="5778000"/>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14523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6" name="Group 15">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7" name="Freeform: Shape 16">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Oval 18">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2" name="Rectangle 21">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8A00A08-E4E6-4184-B484-E0E034072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171" y="13882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6" name="Group 25">
            <a:extLst>
              <a:ext uri="{FF2B5EF4-FFF2-40B4-BE49-F238E27FC236}">
                <a16:creationId xmlns:a16="http://schemas.microsoft.com/office/drawing/2014/main" id="{0780E404-3121-4F33-AF2D-65F659A977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7675" y="288981"/>
            <a:ext cx="1262947" cy="1335600"/>
            <a:chOff x="2678417" y="2427951"/>
            <a:chExt cx="1262947" cy="1335600"/>
          </a:xfrm>
        </p:grpSpPr>
        <p:sp>
          <p:nvSpPr>
            <p:cNvPr id="27" name="Freeform: Shape 26">
              <a:extLst>
                <a:ext uri="{FF2B5EF4-FFF2-40B4-BE49-F238E27FC236}">
                  <a16:creationId xmlns:a16="http://schemas.microsoft.com/office/drawing/2014/main" id="{2339341D-8322-49F1-91DA-6D115CCAE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Oval 27">
              <a:extLst>
                <a:ext uri="{FF2B5EF4-FFF2-40B4-BE49-F238E27FC236}">
                  <a16:creationId xmlns:a16="http://schemas.microsoft.com/office/drawing/2014/main" id="{7EB9DB0E-3B0E-411A-9274-448D565C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pPr>
              <a:lnSpc>
                <a:spcPct val="100000"/>
              </a:lnSpc>
            </a:pPr>
            <a:r>
              <a:rPr lang="en-US" sz="4800" dirty="0"/>
              <a:t>Git Hub &amp; Power BI Links</a:t>
            </a:r>
          </a:p>
        </p:txBody>
      </p:sp>
      <p:grpSp>
        <p:nvGrpSpPr>
          <p:cNvPr id="30" name="Group 29">
            <a:extLst>
              <a:ext uri="{FF2B5EF4-FFF2-40B4-BE49-F238E27FC236}">
                <a16:creationId xmlns:a16="http://schemas.microsoft.com/office/drawing/2014/main" id="{4B158E9A-DBF4-4AA7-B6B7-8C8EB2FBD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25249" y="5435090"/>
            <a:ext cx="762805" cy="734873"/>
            <a:chOff x="7950336" y="1300590"/>
            <a:chExt cx="762805" cy="734873"/>
          </a:xfrm>
        </p:grpSpPr>
        <p:sp>
          <p:nvSpPr>
            <p:cNvPr id="31" name="Freeform 5">
              <a:extLst>
                <a:ext uri="{FF2B5EF4-FFF2-40B4-BE49-F238E27FC236}">
                  <a16:creationId xmlns:a16="http://schemas.microsoft.com/office/drawing/2014/main" id="{6150ACFD-AEC6-42A3-A5A7-E7AD6B13E0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Freeform 6">
              <a:extLst>
                <a:ext uri="{FF2B5EF4-FFF2-40B4-BE49-F238E27FC236}">
                  <a16:creationId xmlns:a16="http://schemas.microsoft.com/office/drawing/2014/main" id="{DB4D1217-FEB1-4D2A-80F4-C227B66D72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Freeform 8">
              <a:extLst>
                <a:ext uri="{FF2B5EF4-FFF2-40B4-BE49-F238E27FC236}">
                  <a16:creationId xmlns:a16="http://schemas.microsoft.com/office/drawing/2014/main" id="{0BCA7138-22BA-4785-8B3D-9D45213E8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5" name="Content Placeholder 4">
            <a:extLst>
              <a:ext uri="{FF2B5EF4-FFF2-40B4-BE49-F238E27FC236}">
                <a16:creationId xmlns:a16="http://schemas.microsoft.com/office/drawing/2014/main" id="{06605170-2F25-079C-212E-61065ACEB25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l="8334" t="9716" r="14526" b="-3"/>
          <a:stretch>
            <a:fillRect/>
          </a:stretch>
        </p:blipFill>
        <p:spPr>
          <a:xfrm>
            <a:off x="4616123" y="1368962"/>
            <a:ext cx="7345363" cy="3911406"/>
          </a:xfrm>
          <a:custGeom>
            <a:avLst/>
            <a:gdLst/>
            <a:ahLst/>
            <a:cxnLst/>
            <a:rect l="l" t="t" r="r" b="b"/>
            <a:pathLst>
              <a:path w="7345363" h="5761037">
                <a:moveTo>
                  <a:pt x="0" y="0"/>
                </a:moveTo>
                <a:lnTo>
                  <a:pt x="7345363" y="0"/>
                </a:lnTo>
                <a:lnTo>
                  <a:pt x="7345363" y="5761037"/>
                </a:lnTo>
                <a:lnTo>
                  <a:pt x="0" y="5761037"/>
                </a:lnTo>
                <a:close/>
              </a:path>
            </a:pathLst>
          </a:custGeom>
          <a:noFill/>
        </p:spPr>
      </p:pic>
      <p:sp>
        <p:nvSpPr>
          <p:cNvPr id="6" name="TextBox 5">
            <a:extLst>
              <a:ext uri="{FF2B5EF4-FFF2-40B4-BE49-F238E27FC236}">
                <a16:creationId xmlns:a16="http://schemas.microsoft.com/office/drawing/2014/main" id="{50C7722F-B67D-39A1-F07F-70DFFC7E0C9E}"/>
              </a:ext>
            </a:extLst>
          </p:cNvPr>
          <p:cNvSpPr txBox="1"/>
          <p:nvPr/>
        </p:nvSpPr>
        <p:spPr>
          <a:xfrm>
            <a:off x="19582" y="3698557"/>
            <a:ext cx="4675955" cy="1477328"/>
          </a:xfrm>
          <a:prstGeom prst="rect">
            <a:avLst/>
          </a:prstGeom>
          <a:noFill/>
        </p:spPr>
        <p:txBody>
          <a:bodyPr wrap="square" rtlCol="0">
            <a:spAutoFit/>
          </a:bodyPr>
          <a:lstStyle/>
          <a:p>
            <a:pPr algn="ctr"/>
            <a:r>
              <a:rPr lang="en-US" dirty="0">
                <a:hlinkClick r:id="rId3"/>
              </a:rPr>
              <a:t>https://github.com/Sharya-wolf/Capstone_3.git</a:t>
            </a:r>
            <a:endParaRPr lang="en-US" dirty="0"/>
          </a:p>
          <a:p>
            <a:endParaRPr lang="en-US" dirty="0"/>
          </a:p>
          <a:p>
            <a:pPr algn="ctr"/>
            <a:r>
              <a:rPr lang="en-US" dirty="0">
                <a:hlinkClick r:id="rId4"/>
              </a:rPr>
              <a:t>Weaver's Power BI Link</a:t>
            </a:r>
            <a:endParaRPr lang="en-US" dirty="0"/>
          </a:p>
          <a:p>
            <a:endParaRPr lang="en-US" dirty="0"/>
          </a:p>
          <a:p>
            <a:endParaRPr lang="en-US" dirty="0"/>
          </a:p>
        </p:txBody>
      </p:sp>
    </p:spTree>
    <p:extLst>
      <p:ext uri="{BB962C8B-B14F-4D97-AF65-F5344CB8AC3E}">
        <p14:creationId xmlns:p14="http://schemas.microsoft.com/office/powerpoint/2010/main" val="314440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normAutofit/>
          </a:bodyPr>
          <a:lstStyle/>
          <a:p>
            <a:r>
              <a:rPr lang="en-US" dirty="0"/>
              <a:t>Thank you!</a:t>
            </a:r>
          </a:p>
        </p:txBody>
      </p:sp>
      <p:pic>
        <p:nvPicPr>
          <p:cNvPr id="25" name="Picture Placeholder 24" descr="A close-up of a network">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 b="1"/>
          <a:stretch/>
        </p:blipFill>
        <p:spPr/>
      </p:pic>
    </p:spTree>
    <p:extLst>
      <p:ext uri="{BB962C8B-B14F-4D97-AF65-F5344CB8AC3E}">
        <p14:creationId xmlns:p14="http://schemas.microsoft.com/office/powerpoint/2010/main" val="2547630249"/>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342EE1-43E5-4AFB-895D-B61B9656DC14}">
  <ds:schemaRefs>
    <ds:schemaRef ds:uri="http://purl.org/dc/dcmitype/"/>
    <ds:schemaRef ds:uri="http://purl.org/dc/terms/"/>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16c05727-aa75-4e4a-9b5f-8a80a1165891"/>
    <ds:schemaRef ds:uri="http://schemas.openxmlformats.org/package/2006/metadata/core-properties"/>
    <ds:schemaRef ds:uri="http://schemas.microsoft.com/sharepoint/v3"/>
    <ds:schemaRef ds:uri="http://purl.org/dc/elements/1.1/"/>
    <ds:schemaRef ds:uri="230e9df3-be65-4c73-a93b-d1236ebd677e"/>
    <ds:schemaRef ds:uri="71af3243-3dd4-4a8d-8c0d-dd76da1f02a5"/>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49CD38-5B57-4682-9FCE-B9174068D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 float design</Template>
  <TotalTime>541</TotalTime>
  <Words>292</Words>
  <Application>Microsoft Office PowerPoint</Application>
  <PresentationFormat>Widescreen</PresentationFormat>
  <Paragraphs>37</Paragraphs>
  <Slides>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Gill Sans MT</vt:lpstr>
      <vt:lpstr>Walbaum Display</vt:lpstr>
      <vt:lpstr>Wingdings</vt:lpstr>
      <vt:lpstr>3DFloatVTI</vt:lpstr>
      <vt:lpstr>West Region Next Steps</vt:lpstr>
      <vt:lpstr>Planning</vt:lpstr>
      <vt:lpstr>Total West Region Sales</vt:lpstr>
      <vt:lpstr>Growth</vt:lpstr>
      <vt:lpstr>Sales &amp; Trends</vt:lpstr>
      <vt:lpstr>Books Performance</vt:lpstr>
      <vt:lpstr>Final Tips &amp; Takeaways</vt:lpstr>
      <vt:lpstr>Git Hub &amp; Power BI Links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sharya weaver</dc:creator>
  <cp:lastModifiedBy>sharya weaver</cp:lastModifiedBy>
  <cp:revision>9</cp:revision>
  <dcterms:created xsi:type="dcterms:W3CDTF">2026-06-24T21:40:21Z</dcterms:created>
  <dcterms:modified xsi:type="dcterms:W3CDTF">2026-06-26T02:32:46Z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